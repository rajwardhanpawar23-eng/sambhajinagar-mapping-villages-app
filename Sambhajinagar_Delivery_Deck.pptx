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Chhatrapati Sambhajinagar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Taluka Delivery Analysis — F23 to F26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ADCFC"/>
                </a:solidFill>
                <a:latin typeface="Calibri"/>
              </a:rPr>
              <a:t>Village-level performance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2560320" cy="1188720"/>
          </a:xfrm>
          <a:prstGeom prst="rect">
            <a:avLst/>
          </a:prstGeom>
          <a:solidFill>
            <a:srgbClr val="28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891B2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TALUKAS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572000"/>
            <a:ext cx="2560320" cy="1188720"/>
          </a:xfrm>
          <a:prstGeom prst="rect">
            <a:avLst/>
          </a:prstGeom>
          <a:solidFill>
            <a:srgbClr val="28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4754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891B2"/>
                </a:solidFill>
                <a:latin typeface="Calibri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3035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SALESMEN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572000"/>
            <a:ext cx="2560320" cy="1188720"/>
          </a:xfrm>
          <a:prstGeom prst="rect">
            <a:avLst/>
          </a:prstGeom>
          <a:solidFill>
            <a:srgbClr val="28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891B2"/>
                </a:solidFill>
                <a:latin typeface="Calibri"/>
              </a:rPr>
              <a:t>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035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VILLAGES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4572000"/>
            <a:ext cx="2560320" cy="1188720"/>
          </a:xfrm>
          <a:prstGeom prst="rect">
            <a:avLst/>
          </a:prstGeom>
          <a:solidFill>
            <a:srgbClr val="28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7548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891B2"/>
                </a:solidFill>
                <a:latin typeface="Calibri"/>
              </a:rPr>
              <a:t>2,686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53035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TOTAL DELIVERIES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Prepared for Rajwardhan Pawar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2A5E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891B2"/>
                </a:solidFill>
                <a:latin typeface="Calibri"/>
              </a:rPr>
              <a:t>2,686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TOTAL DELIVERIES F23-F26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18872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3258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C7293"/>
                </a:solidFill>
                <a:latin typeface="Calibri"/>
              </a:rPr>
              <a:t>1,059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65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F26 DELIVERIES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6A34A"/>
                </a:solidFill>
                <a:latin typeface="Calibri"/>
              </a:rPr>
              <a:t>+29%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F25 → F26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18872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3258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A580C"/>
                </a:solidFill>
                <a:latin typeface="Calibri"/>
              </a:rPr>
              <a:t>507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965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ZERO-F26 VILLAGES (OPPORTUNITY)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651760"/>
            <a:ext cx="6858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88920"/>
            <a:ext cx="64922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"/>
              </a:rPr>
              <a:t>Key takeaways from the F23-F26 analysis:
• Paithan is the largest taluka by volume (679 total, 25% of district); Gangapur (639) is a close second.
• F25 → F26 saw +29% growth district-wide, driven largely by Paithan (+50%) and Kannad (+31%).
• 53% of villages received zero F26 tractors — a sizable expansion opportunity.
• Pravin Chavan (Gangapur) leads by coverage at 91%; Vishwas (Paithan) leads by volume at 362 deliveries.
• Mahesh Jadhav (82% cov in Khuldabad) and Dinesh (81% in Paithan) are the most efficient deployments.
Note: F23 data is only available for Aurangabad and Gangapur; other talukas start from F24.</a:t>
            </a:r>
          </a:p>
        </p:txBody>
      </p:sp>
      <p:pic>
        <p:nvPicPr>
          <p:cNvPr id="18" name="Picture 17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651760"/>
            <a:ext cx="4023360" cy="3017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63840" y="57150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District overview — all 6 talukas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A5E"/>
                </a:solidFill>
                <a:latin typeface="Calibri"/>
              </a:rPr>
              <a:t>Taluka Performance Comparison</a:t>
            </a:r>
          </a:p>
        </p:txBody>
      </p:sp>
      <p:pic>
        <p:nvPicPr>
          <p:cNvPr id="4" name="Picture 3" descr="taluka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85800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25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A5E"/>
                </a:solidFill>
                <a:latin typeface="Calibri"/>
              </a:rPr>
              <a:t>Ranking by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8308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1965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783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Paithan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0116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192 vil • 2 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7830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65A82"/>
                </a:solidFill>
                <a:latin typeface="Calibri"/>
              </a:rPr>
              <a:t>679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0116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F26: 316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487168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871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Gangapur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7157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214 vil • 5 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4871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65A82"/>
                </a:solidFill>
                <a:latin typeface="Calibri"/>
              </a:rPr>
              <a:t>639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7157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F26: 210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191256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22783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19125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Kannad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41985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207 vil • 7 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19125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65A82"/>
                </a:solidFill>
                <a:latin typeface="Calibri"/>
              </a:rPr>
              <a:t>550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41985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F26: 239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895344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9319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8953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Aurangabad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12394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183 vil • 4 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389534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65A82"/>
                </a:solidFill>
                <a:latin typeface="Calibri"/>
              </a:rPr>
              <a:t>504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412394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F26: 165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599432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463600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5994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Phulambri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82803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89 vil • 3 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59943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65A82"/>
                </a:solidFill>
                <a:latin typeface="Calibri"/>
              </a:rPr>
              <a:t>178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482803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F26: 76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530352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534009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5303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Khuldabad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53212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65 vil • 3 sm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53035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65A82"/>
                </a:solidFill>
                <a:latin typeface="Calibri"/>
              </a:rPr>
              <a:t>136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55321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F26: 73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A5E"/>
                </a:solidFill>
                <a:latin typeface="Calibri"/>
              </a:rPr>
              <a:t>Year-over-Year Trend</a:t>
            </a:r>
          </a:p>
        </p:txBody>
      </p:sp>
      <p:pic>
        <p:nvPicPr>
          <p:cNvPr id="4" name="Picture 3" descr="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31520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21040" y="1188720"/>
            <a:ext cx="3566160" cy="5029200"/>
          </a:xfrm>
          <a:prstGeom prst="rect">
            <a:avLst/>
          </a:prstGeom>
          <a:solidFill>
            <a:srgbClr val="1E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325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Key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0"/>
            <a:ext cx="32918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• F25 → F26 growth is strongest in Paithan (+50%) and Kannad (+31%)
• Aurangabad and Gangapur show steady ~63% growth across the full 4-year window
• No taluka has declined YoY
• F23 baseline missing for 4 talukas — recommend backfill for like-for-like comparison
• F26 district total (1,059) is the highest year on record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A5E"/>
                </a:solidFill>
                <a:latin typeface="Calibri"/>
              </a:rPr>
              <a:t>Aurangabad Taluka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183 villages • 4 salesmen • 504 total deliveries (F23-F26)</a:t>
            </a:r>
          </a:p>
        </p:txBody>
      </p:sp>
      <p:pic>
        <p:nvPicPr>
          <p:cNvPr id="5" name="Picture 4" descr="auranga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1323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891B2"/>
                </a:solidFill>
                <a:latin typeface="Calibri"/>
              </a:rPr>
              <a:t>504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TOTAL F23-F26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C7293"/>
                </a:solidFill>
                <a:latin typeface="Calibri"/>
              </a:rPr>
              <a:t>165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  <a:latin typeface="Calibri"/>
              </a:rPr>
              <a:t>7.6%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PENETRATION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Calibri"/>
              </a:rPr>
              <a:t>116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ZERO F26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  <a:latin typeface="Calibri"/>
              </a:rPr>
              <a:t>2.8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AVG / VILLAGE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4160520"/>
            <a:ext cx="41148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251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A5E"/>
                </a:solidFill>
                <a:latin typeface="Calibri"/>
              </a:rPr>
              <a:t>Salesman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177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Vil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6177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Cov%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4873752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8920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Bhartat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65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71%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156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80" y="5120640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51389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Purshottam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1389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69%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122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80" y="5367528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538581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Vitthal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538581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52%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47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122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80" y="5614416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563270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Sharad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56327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5632704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68%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56327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56327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A5E"/>
                </a:solidFill>
                <a:latin typeface="Calibri"/>
              </a:rPr>
              <a:t>Gangapur Taluka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214 villages • 5 salesmen • 639 total deliveries (F23-F26)</a:t>
            </a:r>
          </a:p>
        </p:txBody>
      </p:sp>
      <p:pic>
        <p:nvPicPr>
          <p:cNvPr id="5" name="Picture 4" descr="gangap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1323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891B2"/>
                </a:solidFill>
                <a:latin typeface="Calibri"/>
              </a:rPr>
              <a:t>639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TOTAL F23-F26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C7293"/>
                </a:solidFill>
                <a:latin typeface="Calibri"/>
              </a:rPr>
              <a:t>210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  <a:latin typeface="Calibri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PENETRATION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Calibri"/>
              </a:rPr>
              <a:t>125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ZERO F26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  <a:latin typeface="Calibri"/>
              </a:rPr>
              <a:t>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AVG / VILLAGE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4160520"/>
            <a:ext cx="41148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251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A5E"/>
                </a:solidFill>
                <a:latin typeface="Calibri"/>
              </a:rPr>
              <a:t>Salesman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177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Vil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6177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Cov%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4873752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8920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Pravin Chavan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91%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221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80" y="5120640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51389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Dyaneshwar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1389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60%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52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174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80" y="5367528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538581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Balasaheb Toge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538581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70%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138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80" y="5614416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563270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Janesh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56327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44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5632704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70%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56327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44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56327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106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26680" y="5861304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587959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Unassigned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87959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587959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587959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587959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A5E"/>
                </a:solidFill>
                <a:latin typeface="Calibri"/>
              </a:rPr>
              <a:t>Kannad Taluka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207 villages • 7 salesmen • 550 total deliveries (F23-F26)</a:t>
            </a:r>
          </a:p>
        </p:txBody>
      </p:sp>
      <p:pic>
        <p:nvPicPr>
          <p:cNvPr id="5" name="Picture 4" descr="kann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1323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891B2"/>
                </a:solidFill>
                <a:latin typeface="Calibri"/>
              </a:rPr>
              <a:t>550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TOTAL F23-F26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C7293"/>
                </a:solidFill>
                <a:latin typeface="Calibri"/>
              </a:rPr>
              <a:t>239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  <a:latin typeface="Calibri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PENETRATION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Calibri"/>
              </a:rPr>
              <a:t>107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ZERO F26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  <a:latin typeface="Calibri"/>
              </a:rPr>
              <a:t>2.7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AVG / VILLAGE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4160520"/>
            <a:ext cx="41148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251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A5E"/>
                </a:solidFill>
                <a:latin typeface="Calibri"/>
              </a:rPr>
              <a:t>Salesman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177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Vil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6177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Cov%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4873752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8920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Swapnil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72%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127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80" y="5120640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51389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Yogesh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1389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76%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110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80" y="5367528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538581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Shivdash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538581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67%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46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95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80" y="5614416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563270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Ankush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56327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49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5632704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55%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56327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56327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80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26680" y="5861304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587959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Sunil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87959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587959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69%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587959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587959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71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26680" y="6108192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0" y="61264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Anil Magre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61264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61264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71%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1264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22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55680" y="61264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65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26680" y="6355080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0" y="63733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Unassigned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63733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637336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3733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0" y="63733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A5E"/>
                </a:solidFill>
                <a:latin typeface="Calibri"/>
              </a:rPr>
              <a:t>Khuldabad Taluka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65 villages • 3 salesmen • 136 total deliveries (F23-F26)</a:t>
            </a:r>
          </a:p>
        </p:txBody>
      </p:sp>
      <p:pic>
        <p:nvPicPr>
          <p:cNvPr id="5" name="Picture 4" descr="khulda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1323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891B2"/>
                </a:solidFill>
                <a:latin typeface="Calibri"/>
              </a:rPr>
              <a:t>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TOTAL F23-F26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C7293"/>
                </a:solidFill>
                <a:latin typeface="Calibri"/>
              </a:rPr>
              <a:t>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69%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  <a:latin typeface="Calibri"/>
              </a:rPr>
              <a:t>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PENETRATION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Calibri"/>
              </a:rP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ZERO F26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  <a:latin typeface="Calibri"/>
              </a:rPr>
              <a:t>2.1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AVG / VILLAGE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4160520"/>
            <a:ext cx="41148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251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A5E"/>
                </a:solidFill>
                <a:latin typeface="Calibri"/>
              </a:rPr>
              <a:t>Salesman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177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Vil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6177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Cov%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4873752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8920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Ganesh Mate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62%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63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80" y="5120640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51389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Ankush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1389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72%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49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80" y="5367528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538581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Mahesh Jadhav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538581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82%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A5E"/>
                </a:solidFill>
                <a:latin typeface="Calibri"/>
              </a:rPr>
              <a:t>Paithan Taluka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192 villages • 2 salesmen • 679 total deliveries (F23-F26)</a:t>
            </a:r>
          </a:p>
        </p:txBody>
      </p:sp>
      <p:pic>
        <p:nvPicPr>
          <p:cNvPr id="5" name="Picture 4" descr="paith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1323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891B2"/>
                </a:solidFill>
                <a:latin typeface="Calibri"/>
              </a:rPr>
              <a:t>679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TOTAL F23-F26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C7293"/>
                </a:solidFill>
                <a:latin typeface="Calibri"/>
              </a:rPr>
              <a:t>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  <a:latin typeface="Calibri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PENETRATION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Calibri"/>
              </a:rPr>
              <a:t>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ZERO F26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  <a:latin typeface="Calibri"/>
              </a:rPr>
              <a:t>3.5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AVG / VILLAGE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4160520"/>
            <a:ext cx="41148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251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A5E"/>
                </a:solidFill>
                <a:latin typeface="Calibri"/>
              </a:rPr>
              <a:t>Salesman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177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Vil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6177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Cov%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4873752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8920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Vishwas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76%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362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80" y="5120640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51389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Dinesh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1389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81%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154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317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A5E"/>
                </a:solidFill>
                <a:latin typeface="Calibri"/>
              </a:rPr>
              <a:t>Phulambri Taluka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89 villages • 3 salesmen • 178 total deliveries (F23-F26)</a:t>
            </a:r>
          </a:p>
        </p:txBody>
      </p:sp>
      <p:pic>
        <p:nvPicPr>
          <p:cNvPr id="5" name="Picture 4" descr="phulamb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1323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891B2"/>
                </a:solidFill>
                <a:latin typeface="Calibri"/>
              </a:rPr>
              <a:t>178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TOTAL F23-F26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2801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1371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C7293"/>
                </a:solidFill>
                <a:latin typeface="Calibri"/>
              </a:rPr>
              <a:t>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8288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  <a:latin typeface="Calibri"/>
              </a:rPr>
              <a:t>4.4%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7432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PENETRATION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Calibri"/>
              </a:rPr>
              <a:t>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ZERO F26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1089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  <a:latin typeface="Calibri"/>
              </a:rPr>
              <a:t>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6576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Calibri"/>
              </a:rPr>
              <a:t>AVG / VILLAGE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4160520"/>
            <a:ext cx="41148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251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A5E"/>
                </a:solidFill>
                <a:latin typeface="Calibri"/>
              </a:rPr>
              <a:t>Salesman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177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Vil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6177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Cov%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F26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46177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75569"/>
                </a:solidFill>
                <a:latin typeface="Calibri"/>
              </a:rPr>
              <a:t>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4873752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8920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Raju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75%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75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80" y="5120640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51389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Sujal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1389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72%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57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80" y="5367528"/>
            <a:ext cx="4023360" cy="23774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538581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Nivrutti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538581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56%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A5E"/>
                </a:solidFill>
                <a:latin typeface="Calibri"/>
              </a:rPr>
              <a:t>Salesmen Performance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Ranked by total F23-F26 deliveries</a:t>
            </a:r>
          </a:p>
        </p:txBody>
      </p:sp>
      <p:pic>
        <p:nvPicPr>
          <p:cNvPr id="5" name="Picture 4" descr="salesman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85800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325880"/>
            <a:ext cx="4023360" cy="5120640"/>
          </a:xfrm>
          <a:prstGeom prst="rect">
            <a:avLst/>
          </a:prstGeom>
          <a:solidFill>
            <a:srgbClr val="1E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417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Top 5 by Coverage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87451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7451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Pravin Chavan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87451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891B2"/>
                </a:solidFill>
                <a:latin typeface="Calibri"/>
              </a:rPr>
              <a:t>91%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48839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29/32 villages • 221 deliveries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5328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3288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Mahesh Jadhav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532887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891B2"/>
                </a:solidFill>
                <a:latin typeface="Calibri"/>
              </a:rPr>
              <a:t>82%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0720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9/11 villages • 24 deliveries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19125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9125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Dinesh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319125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891B2"/>
                </a:solidFill>
                <a:latin typeface="Calibri"/>
              </a:rPr>
              <a:t>81%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65575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69/85 villages • 317 deliveries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84962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4962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Yogesh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384962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891B2"/>
                </a:solidFill>
                <a:latin typeface="Calibri"/>
              </a:rPr>
              <a:t>76%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123943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26/34 villages • 110 deliveries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50799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50799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Vishwas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4507991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0891B2"/>
                </a:solidFill>
                <a:latin typeface="Calibri"/>
              </a:rPr>
              <a:t>76%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782311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81/107 villages • 362 deliveries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A5E"/>
                </a:solidFill>
                <a:latin typeface="Calibri"/>
              </a:rPr>
              <a:t>Expansion Opportunities — Zero-F26 Villages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507 villages (53% of total) had zero F26 deliveries. Top opportunities by population below.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840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84048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Aurangabad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116 zero-F26 villages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Village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9659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Salesman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Pop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219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Ladsawangi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219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Vitthal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22199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7281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414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Daulatabad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4414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Sharad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44144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6096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609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Pimpri Bk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6609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Bhartat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66090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5566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803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Sawangi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28803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Sharad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8803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4727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09981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Maliwada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0998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Sharad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09981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4403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417320"/>
            <a:ext cx="3840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1417320"/>
            <a:ext cx="384048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15087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Gangapur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15087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125 zero-F26 villages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19659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Village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9659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Salesman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19659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Pop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2219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Jogeshwari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2219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Balasaheb Toge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222199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8272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24414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Turkabad Kharadi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4414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Balasaheb Toge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244144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6017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26609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Katepimpalgaon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26609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Dyaneshwar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266090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3896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28803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Shendurwada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28803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Balasaheb Toge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28803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3729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309981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Maliwadgaon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30998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Janesh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309981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2853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1417320"/>
            <a:ext cx="3840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1417320"/>
            <a:ext cx="384048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5087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Kannad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5087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107 zero-F26 villages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19659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Village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19659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Salesman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01400" y="19659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Pop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22219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Chincholi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2680" y="22219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Yogesh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01400" y="222199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6434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24414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Kunjkheda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2680" y="24414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Anil Magre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01400" y="244144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6095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26609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Digar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6609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Yogesh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01400" y="266090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5511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28803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Karanjkheda Khalsa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12680" y="28803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Yogesh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01400" y="28803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5146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6760" y="309981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Ghatshendra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12680" y="30998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Yogesh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01400" y="309981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3919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160520"/>
            <a:ext cx="3840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5760" y="4160520"/>
            <a:ext cx="384048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42519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Khuldabad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42519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27 zero-F26 villages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47091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Village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48840" y="4709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Salesman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37560" y="47091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Pop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49651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Bazar Sawangi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48840" y="49651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Ankush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37560" y="496519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4461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51846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Gadana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48840" y="51846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Ankush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37560" y="518464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2688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54041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Tajnapur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48840" y="5404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Ankush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37560" y="540410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2115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5623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Bodkha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48840" y="56235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Ankush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37560" y="56235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2013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584301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Nirgudi Bk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48840" y="58430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Ganesh Mate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37560" y="584301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1716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97680" y="4160520"/>
            <a:ext cx="3840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97680" y="4160520"/>
            <a:ext cx="384048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34840" y="42519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Paithan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34840" y="42519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77 zero-F26 villages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34840" y="47091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Village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80760" y="4709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Salesman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69480" y="47091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Pop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34840" y="49651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Nilajgaon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80760" y="49651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Dinesh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69480" y="496519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2846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34840" y="51846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Shekta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80760" y="51846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Dinesh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69480" y="518464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2241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434840" y="54041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Apegaon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80760" y="5404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Vishwas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69480" y="540410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2204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434840" y="5623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Sonwadi Kh.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80760" y="56235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Vishwas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269480" y="56235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1985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34840" y="584301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Dabhrul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80760" y="58430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Dinesh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269480" y="584301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1868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229600" y="4160520"/>
            <a:ext cx="3840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9600" y="4160520"/>
            <a:ext cx="384048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66760" y="42519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Phulambri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366760" y="42519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55 zero-F26 villages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66760" y="47091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Village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012680" y="4709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Calibri"/>
              </a:rPr>
              <a:t>Salesman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201400" y="47091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75569"/>
                </a:solidFill>
                <a:latin typeface="Calibri"/>
              </a:rPr>
              <a:t>Pop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366760" y="49651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Pal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9651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Raju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201400" y="496519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4339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66760" y="51846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Alad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12680" y="51846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Raju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201400" y="518464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3967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66760" y="54041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Kingaon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012680" y="5404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Nivrutti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201400" y="540410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3205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66760" y="56235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Bilda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012680" y="56235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Sujal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201400" y="56235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2555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366760" y="584301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Pimpalgaon Walan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012680" y="58430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Nivrutti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201400" y="584301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  <a:latin typeface="Calibri"/>
              </a:rPr>
              <a:t>2382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1. Focus F27 expansion on the 507 zero-F26 villages (prioritized by population)
2. Leverage the interactive HTML app to drill down by salesman / year / taluka
3. Backfill F23 data for Kannad, Khuldabad, Paithan, Phulambri for complete YoY analysis
4. Replicate Paithan's acceleration model (+50% F25→F26) in lagging talukas
5. Review salesmen with &lt;60% coverage for territory redesign or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